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63" r:id="rId9"/>
    <p:sldId id="270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3BC3"/>
    <a:srgbClr val="5745C3"/>
    <a:srgbClr val="FF66FF"/>
    <a:srgbClr val="A3F0FF"/>
    <a:srgbClr val="00CAF2"/>
    <a:srgbClr val="A3D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68E7206-39E8-4819-BAB9-37B951F946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10E100C-7483-4EFD-A493-3987CB59CB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391E2A4-40DC-4A8C-BDBB-D6FAE4526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C1748-6886-4B2B-9C25-2FD4F6A400AF}" type="datetimeFigureOut">
              <a:rPr lang="hu-HU" smtClean="0"/>
              <a:t>2026. 05. 22.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2A9C80D-9BD7-4855-9C5A-E1BA3EE5D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D5025A6-73F1-4817-9A4B-8F9D80971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8B7-D7C3-4750-9C25-45A413802B07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649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50D8FD6-DAC2-44FE-8208-63146D5D4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B615FC3-B2F9-4D3F-92FA-42C605CC7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43AEFC7-55DD-4DD5-818A-A4C7A7A10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C1748-6886-4B2B-9C25-2FD4F6A400AF}" type="datetimeFigureOut">
              <a:rPr lang="hu-HU" smtClean="0"/>
              <a:t>2026. 05. 22.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0C7B169-3154-4E1F-8204-B28B6E1E3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1A60C70-AB87-43E7-9522-546F30D16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8B7-D7C3-4750-9C25-45A413802B07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72262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3D311D-8BA8-4356-B94B-4D69CF354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CEB693E-DD27-4926-9118-25F9A8B54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74FAE7C-5F62-4618-896A-4DC9B237A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C1748-6886-4B2B-9C25-2FD4F6A400AF}" type="datetimeFigureOut">
              <a:rPr lang="hu-HU" smtClean="0"/>
              <a:t>2026. 05. 22.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E991A3D-361C-4525-88FE-62577E5C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5114D78-245D-41E4-A2F2-A8454590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8B7-D7C3-4750-9C25-45A413802B07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17655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8FDD298-3BB4-49BF-A9F9-2736D5C94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8B68A14-F0AD-4FD1-A7E5-1E57555AE6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9EB538A-8A5E-4B7E-9B93-28140526F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3979DC3-927C-40FA-B7E9-9836460AB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C1748-6886-4B2B-9C25-2FD4F6A400AF}" type="datetimeFigureOut">
              <a:rPr lang="hu-HU" smtClean="0"/>
              <a:t>2026. 05. 22.</a:t>
            </a:fld>
            <a:endParaRPr lang="hu-HU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DA9F044-3024-4180-AB85-41F2D2DC5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2557A1F-2695-4B73-A014-C343889F7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8B7-D7C3-4750-9C25-45A413802B07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9875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CA0C142-1294-430D-B90D-14D8B5A6B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1E2A3AD-7587-4EBF-93B2-8A58D5CAC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9160A13-A40E-42FC-89F6-FAF18CEB7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F4C8081-4753-4D74-AF78-900A348315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3EB388B5-2296-4397-9410-324E7C567D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20B2FEDC-5C13-4519-A299-C899A5583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C1748-6886-4B2B-9C25-2FD4F6A400AF}" type="datetimeFigureOut">
              <a:rPr lang="hu-HU" smtClean="0"/>
              <a:t>2026. 05. 22.</a:t>
            </a:fld>
            <a:endParaRPr lang="hu-HU" dirty="0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9985D072-5FA9-4174-800E-EE6611508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2D35F072-2EE7-4061-AF49-70AC139D9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8B7-D7C3-4750-9C25-45A413802B07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01359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D87FF13-EFDE-49CE-8575-18412C3EC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C5580991-12A8-449D-8543-CA73EAF7C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C1748-6886-4B2B-9C25-2FD4F6A400AF}" type="datetimeFigureOut">
              <a:rPr lang="hu-HU" smtClean="0"/>
              <a:t>2026. 05. 22.</a:t>
            </a:fld>
            <a:endParaRPr lang="hu-HU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4D1746AC-6E52-42A7-8CD8-A9D44D218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D81507E-7059-4A19-8161-8301E5BFC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8B7-D7C3-4750-9C25-45A413802B07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27487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235B2F5B-6358-4FD9-9BB1-E2388BD09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C1748-6886-4B2B-9C25-2FD4F6A400AF}" type="datetimeFigureOut">
              <a:rPr lang="hu-HU" smtClean="0"/>
              <a:t>2026. 05. 22.</a:t>
            </a:fld>
            <a:endParaRPr lang="hu-HU" dirty="0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3202FDA1-2CF8-4E1C-A62E-F5B518F43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ED5CDEE-DB6E-4377-BD10-79582F058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8B7-D7C3-4750-9C25-45A413802B07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83018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C84D5F-3BBC-491B-837F-DF873A8C4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EC3BA3D-95A8-49C2-9621-B68001DFB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DBEF2CD-DF58-4320-A509-F12A5632F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8F16790-C4EF-4599-9F4B-63C4E32BC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C1748-6886-4B2B-9C25-2FD4F6A400AF}" type="datetimeFigureOut">
              <a:rPr lang="hu-HU" smtClean="0"/>
              <a:t>2026. 05. 22.</a:t>
            </a:fld>
            <a:endParaRPr lang="hu-HU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49B760C-1752-49DF-BCC1-03309D641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FC388E8-763C-45DD-850F-6141F4D7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8B7-D7C3-4750-9C25-45A413802B07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0581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9B3ABD4-CC8F-4050-874E-643B310B8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ED923DCC-E1DE-4A32-9A6D-49C6A70936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0309795-080A-48CA-AD08-37A03E792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364A7CB-9340-4C35-B069-794DDA89C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C1748-6886-4B2B-9C25-2FD4F6A400AF}" type="datetimeFigureOut">
              <a:rPr lang="hu-HU" smtClean="0"/>
              <a:t>2026. 05. 22.</a:t>
            </a:fld>
            <a:endParaRPr lang="hu-HU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2C37558-3709-4E0C-9B94-5D690922E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7CC11BD-1002-452F-8E3C-B1D1F231F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8B7-D7C3-4750-9C25-45A413802B07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88346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B8EE2EC-683A-4055-A4F4-4207F8C9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0C01868-5C83-4E73-8FEB-678FF7AE3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2065FC2-CFD6-4441-B728-4B20AD4B1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C1748-6886-4B2B-9C25-2FD4F6A400AF}" type="datetimeFigureOut">
              <a:rPr lang="hu-HU" smtClean="0"/>
              <a:t>2026. 05. 22.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C8E8ABA-B050-4E86-BBC7-80F02348C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D70632E-F022-4D3E-86D7-2755A5700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8B7-D7C3-4750-9C25-45A413802B07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45023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0429D27F-501A-400A-AD2E-429F44E0FF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3985B5A-E35F-4D7C-9738-09621F9BE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9379814-D21E-4EA4-AB7E-5DF605C82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C1748-6886-4B2B-9C25-2FD4F6A400AF}" type="datetimeFigureOut">
              <a:rPr lang="hu-HU" smtClean="0"/>
              <a:t>2026. 05. 22.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5E11373-7066-4431-9048-D59A3CF00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EDEC913-E824-4061-8918-624A489B4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8B7-D7C3-4750-9C25-45A413802B07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61365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085CB527-2B17-4BB4-AA50-023191B2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52342D3-67B1-4164-BE56-11FA164B8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2B45938-6DF2-4BB6-BC40-26C59BCD63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C1748-6886-4B2B-9C25-2FD4F6A400AF}" type="datetimeFigureOut">
              <a:rPr lang="hu-HU" smtClean="0"/>
              <a:t>2026. 05. 22.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732D074-5D9A-436C-B623-754186BAF0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2A8C6AD-912B-4B24-8E3C-D92F2F518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3E8B7-D7C3-4750-9C25-45A413802B07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6971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microsoft.com/office/2007/relationships/hdphoto" Target="../media/hdphoto5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3.pn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7" Type="http://schemas.openxmlformats.org/officeDocument/2006/relationships/image" Target="../media/image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4.jpe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ass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45B4B03-30B9-4EFC-91E5-041B1BDF86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0999"/>
            <a:ext cx="9144000" cy="2387600"/>
          </a:xfrm>
          <a:noFill/>
          <a:ln>
            <a:noFill/>
          </a:ln>
          <a:effectLst>
            <a:reflection stA="0" endPos="65000" dir="5400000" sy="-100000" algn="bl" rotWithShape="0"/>
          </a:effectLst>
        </p:spPr>
        <p:txBody>
          <a:bodyPr>
            <a:noAutofit/>
          </a:bodyPr>
          <a:lstStyle/>
          <a:p>
            <a:r>
              <a:rPr lang="hu-HU" sz="11200" dirty="0">
                <a:ln w="3175">
                  <a:solidFill>
                    <a:schemeClr val="bg1"/>
                  </a:solidFill>
                </a:ln>
                <a:gradFill flip="none" rotWithShape="1">
                  <a:gsLst>
                    <a:gs pos="36000">
                      <a:schemeClr val="accent2">
                        <a:lumMod val="68000"/>
                      </a:schemeClr>
                    </a:gs>
                    <a:gs pos="0">
                      <a:schemeClr val="accent2">
                        <a:alpha val="91000"/>
                      </a:schemeClr>
                    </a:gs>
                    <a:gs pos="100000">
                      <a:srgbClr val="FF0000">
                        <a:alpha val="88000"/>
                      </a:srgbClr>
                    </a:gs>
                    <a:gs pos="66000">
                      <a:srgbClr val="C00000">
                        <a:lumMod val="85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63500" dist="25400" dir="5400000" sx="101000" sy="101000" algn="t" rotWithShape="0">
                    <a:schemeClr val="bg1">
                      <a:alpha val="85000"/>
                    </a:schemeClr>
                  </a:outerShdw>
                  <a:reflection blurRad="25400" stA="0" dist="76200" dir="5400000" sy="-100000" algn="bl" rotWithShape="0"/>
                </a:effectLst>
                <a:latin typeface="Old English Text MT" panose="03040902040508030806" pitchFamily="66" charset="0"/>
              </a:rPr>
              <a:t>Újévi koncert</a:t>
            </a:r>
          </a:p>
        </p:txBody>
      </p:sp>
      <p:pic>
        <p:nvPicPr>
          <p:cNvPr id="3" name="Picture 2" descr="Discography - nine inch nails">
            <a:extLst>
              <a:ext uri="{FF2B5EF4-FFF2-40B4-BE49-F238E27FC236}">
                <a16:creationId xmlns:a16="http://schemas.microsoft.com/office/drawing/2014/main" id="{FC44D952-C3B3-418F-98EA-99A612D8A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6946">
            <a:off x="9535082" y="7263068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Terrorizer: Terrorizer: World Downfall DIGI CD">
            <a:extLst>
              <a:ext uri="{FF2B5EF4-FFF2-40B4-BE49-F238E27FC236}">
                <a16:creationId xmlns:a16="http://schemas.microsoft.com/office/drawing/2014/main" id="{527AD25D-9DC9-4D6E-B950-70B852BA9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60794">
            <a:off x="7990088" y="7165083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From Enslavement to Obliteration | Napalm Death">
            <a:extLst>
              <a:ext uri="{FF2B5EF4-FFF2-40B4-BE49-F238E27FC236}">
                <a16:creationId xmlns:a16="http://schemas.microsoft.com/office/drawing/2014/main" id="{F1901248-7B8B-4C32-A677-D09CCF835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882" y="7263068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Issues (Korn album) - Wikipedia">
            <a:extLst>
              <a:ext uri="{FF2B5EF4-FFF2-40B4-BE49-F238E27FC236}">
                <a16:creationId xmlns:a16="http://schemas.microsoft.com/office/drawing/2014/main" id="{2418D57B-529C-44A4-9CFD-0D2DACDBA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51348">
            <a:off x="5940487" y="7456013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9555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scography - nine inch nails">
            <a:extLst>
              <a:ext uri="{FF2B5EF4-FFF2-40B4-BE49-F238E27FC236}">
                <a16:creationId xmlns:a16="http://schemas.microsoft.com/office/drawing/2014/main" id="{1CD02194-D23E-45B9-B38B-49FFCB887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6946">
            <a:off x="9636682" y="4333601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errorizer: Terrorizer: World Downfall DIGI CD">
            <a:extLst>
              <a:ext uri="{FF2B5EF4-FFF2-40B4-BE49-F238E27FC236}">
                <a16:creationId xmlns:a16="http://schemas.microsoft.com/office/drawing/2014/main" id="{3693B468-A75F-4C86-8992-4F556EBF9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60794">
            <a:off x="8091688" y="4235616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rom Enslavement to Obliteration | Napalm Death">
            <a:extLst>
              <a:ext uri="{FF2B5EF4-FFF2-40B4-BE49-F238E27FC236}">
                <a16:creationId xmlns:a16="http://schemas.microsoft.com/office/drawing/2014/main" id="{270D8F27-399C-4226-BFAE-ED5A446F9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7482" y="4333601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ssues (Korn album) - Wikipedia">
            <a:extLst>
              <a:ext uri="{FF2B5EF4-FFF2-40B4-BE49-F238E27FC236}">
                <a16:creationId xmlns:a16="http://schemas.microsoft.com/office/drawing/2014/main" id="{88D42BC6-0815-4B4B-B88E-E421BD170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51348">
            <a:off x="6042087" y="4526546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artalom helye 2">
            <a:extLst>
              <a:ext uri="{FF2B5EF4-FFF2-40B4-BE49-F238E27FC236}">
                <a16:creationId xmlns:a16="http://schemas.microsoft.com/office/drawing/2014/main" id="{20891671-9206-463B-9DA0-939C30892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698" y="7617091"/>
            <a:ext cx="5858864" cy="4351338"/>
          </a:xfrm>
        </p:spPr>
        <p:txBody>
          <a:bodyPr/>
          <a:lstStyle/>
          <a:p>
            <a:r>
              <a:rPr lang="hu-HU" dirty="0"/>
              <a:t>Városunk környékén klubok/lokációk megnézése</a:t>
            </a:r>
          </a:p>
          <a:p>
            <a:r>
              <a:rPr lang="hu-HU" dirty="0"/>
              <a:t>Tulajdonosokkal megbeszélés</a:t>
            </a:r>
          </a:p>
        </p:txBody>
      </p:sp>
      <p:sp>
        <p:nvSpPr>
          <p:cNvPr id="19" name="Cím 1">
            <a:extLst>
              <a:ext uri="{FF2B5EF4-FFF2-40B4-BE49-F238E27FC236}">
                <a16:creationId xmlns:a16="http://schemas.microsoft.com/office/drawing/2014/main" id="{E4097AC2-FE73-4D7F-BD97-C1F88E1CFCB9}"/>
              </a:ext>
            </a:extLst>
          </p:cNvPr>
          <p:cNvSpPr txBox="1">
            <a:spLocks/>
          </p:cNvSpPr>
          <p:nvPr/>
        </p:nvSpPr>
        <p:spPr>
          <a:xfrm>
            <a:off x="838200" y="-165117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/>
              <a:t>Helyszín beszerzés</a:t>
            </a:r>
          </a:p>
        </p:txBody>
      </p:sp>
    </p:spTree>
    <p:extLst>
      <p:ext uri="{BB962C8B-B14F-4D97-AF65-F5344CB8AC3E}">
        <p14:creationId xmlns:p14="http://schemas.microsoft.com/office/powerpoint/2010/main" val="22822777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scography - nine inch nails">
            <a:extLst>
              <a:ext uri="{FF2B5EF4-FFF2-40B4-BE49-F238E27FC236}">
                <a16:creationId xmlns:a16="http://schemas.microsoft.com/office/drawing/2014/main" id="{1CD02194-D23E-45B9-B38B-49FFCB887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6946">
            <a:off x="9636682" y="4333601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errorizer: Terrorizer: World Downfall DIGI CD">
            <a:extLst>
              <a:ext uri="{FF2B5EF4-FFF2-40B4-BE49-F238E27FC236}">
                <a16:creationId xmlns:a16="http://schemas.microsoft.com/office/drawing/2014/main" id="{3693B468-A75F-4C86-8992-4F556EBF9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60794">
            <a:off x="8091688" y="4235616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rom Enslavement to Obliteration | Napalm Death">
            <a:extLst>
              <a:ext uri="{FF2B5EF4-FFF2-40B4-BE49-F238E27FC236}">
                <a16:creationId xmlns:a16="http://schemas.microsoft.com/office/drawing/2014/main" id="{270D8F27-399C-4226-BFAE-ED5A446F9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7482" y="4333601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ssues (Korn album) - Wikipedia">
            <a:extLst>
              <a:ext uri="{FF2B5EF4-FFF2-40B4-BE49-F238E27FC236}">
                <a16:creationId xmlns:a16="http://schemas.microsoft.com/office/drawing/2014/main" id="{88D42BC6-0815-4B4B-B88E-E421BD170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-100000"/>
                    </a14:imgEffect>
                    <a14:imgEffect>
                      <a14:colorTemperature colorTemp="3379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64" y="-1"/>
            <a:ext cx="6120000" cy="61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ím 1">
            <a:extLst>
              <a:ext uri="{FF2B5EF4-FFF2-40B4-BE49-F238E27FC236}">
                <a16:creationId xmlns:a16="http://schemas.microsoft.com/office/drawing/2014/main" id="{86253D2A-F767-400C-81B7-522CD4D85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096" y="435829"/>
            <a:ext cx="4715933" cy="1325563"/>
          </a:xfrm>
        </p:spPr>
        <p:txBody>
          <a:bodyPr>
            <a:normAutofit/>
          </a:bodyPr>
          <a:lstStyle/>
          <a:p>
            <a:r>
              <a:rPr lang="hu-HU" sz="6000" dirty="0">
                <a:ln w="3175">
                  <a:noFill/>
                </a:ln>
                <a:solidFill>
                  <a:sysClr val="windowText" lastClr="000000"/>
                </a:solidFill>
                <a:effectLst>
                  <a:glow rad="63500">
                    <a:schemeClr val="accent2">
                      <a:satMod val="175000"/>
                      <a:alpha val="65000"/>
                    </a:schemeClr>
                  </a:glow>
                </a:effectLst>
                <a:latin typeface="Chiller" panose="04020404031007020602" pitchFamily="82" charset="0"/>
              </a:rPr>
              <a:t>Helyszín beszerzés</a:t>
            </a:r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id="{24A1953F-0275-4B19-8846-ECED0F569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6720" y="2364897"/>
            <a:ext cx="4980683" cy="1765724"/>
          </a:xfrm>
        </p:spPr>
        <p:txBody>
          <a:bodyPr>
            <a:normAutofit/>
          </a:bodyPr>
          <a:lstStyle/>
          <a:p>
            <a:r>
              <a:rPr lang="hu-HU" sz="3600" dirty="0">
                <a:effectLst>
                  <a:glow rad="63500">
                    <a:schemeClr val="accent2">
                      <a:satMod val="175000"/>
                      <a:alpha val="65000"/>
                    </a:schemeClr>
                  </a:glow>
                </a:effectLst>
                <a:latin typeface="Chiller" panose="04020404031007020602" pitchFamily="82" charset="0"/>
              </a:rPr>
              <a:t>Városunk környékén klubok/lokációk megnézése</a:t>
            </a:r>
          </a:p>
          <a:p>
            <a:r>
              <a:rPr lang="hu-HU" sz="3600" dirty="0">
                <a:effectLst>
                  <a:glow rad="63500">
                    <a:schemeClr val="accent2">
                      <a:satMod val="175000"/>
                      <a:alpha val="65000"/>
                    </a:schemeClr>
                  </a:glow>
                </a:effectLst>
                <a:latin typeface="Chiller" panose="04020404031007020602" pitchFamily="82" charset="0"/>
              </a:rPr>
              <a:t>Tulajdonosokkal megbeszélés</a:t>
            </a:r>
          </a:p>
        </p:txBody>
      </p:sp>
      <p:sp>
        <p:nvSpPr>
          <p:cNvPr id="9" name="Cím 1">
            <a:extLst>
              <a:ext uri="{FF2B5EF4-FFF2-40B4-BE49-F238E27FC236}">
                <a16:creationId xmlns:a16="http://schemas.microsoft.com/office/drawing/2014/main" id="{B086C805-04FB-429D-80CF-AD286E36F24F}"/>
              </a:ext>
            </a:extLst>
          </p:cNvPr>
          <p:cNvSpPr txBox="1">
            <a:spLocks/>
          </p:cNvSpPr>
          <p:nvPr/>
        </p:nvSpPr>
        <p:spPr>
          <a:xfrm>
            <a:off x="3569398" y="-1684673"/>
            <a:ext cx="4399735" cy="977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/>
              <a:t>Cégek felkeresése</a:t>
            </a:r>
          </a:p>
        </p:txBody>
      </p:sp>
      <p:sp>
        <p:nvSpPr>
          <p:cNvPr id="10" name="Tartalom helye 2">
            <a:extLst>
              <a:ext uri="{FF2B5EF4-FFF2-40B4-BE49-F238E27FC236}">
                <a16:creationId xmlns:a16="http://schemas.microsoft.com/office/drawing/2014/main" id="{E215AFAF-F9C8-4F65-90B9-68D40450A914}"/>
              </a:ext>
            </a:extLst>
          </p:cNvPr>
          <p:cNvSpPr txBox="1">
            <a:spLocks/>
          </p:cNvSpPr>
          <p:nvPr/>
        </p:nvSpPr>
        <p:spPr>
          <a:xfrm>
            <a:off x="3152287" y="7220611"/>
            <a:ext cx="5669980" cy="4598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u-HU" dirty="0"/>
              <a:t>Vendéglátási cégek keresése</a:t>
            </a:r>
          </a:p>
          <a:p>
            <a:pPr lvl="1">
              <a:lnSpc>
                <a:spcPct val="120000"/>
              </a:lnSpc>
            </a:pPr>
            <a:r>
              <a:rPr lang="hu-HU" dirty="0"/>
              <a:t>Berendelni való árucikkek megbeszélése</a:t>
            </a:r>
          </a:p>
          <a:p>
            <a:pPr>
              <a:lnSpc>
                <a:spcPct val="120000"/>
              </a:lnSpc>
            </a:pPr>
            <a:r>
              <a:rPr lang="hu-HU" dirty="0"/>
              <a:t>Biztosági cégek keresése</a:t>
            </a:r>
          </a:p>
          <a:p>
            <a:pPr lvl="1">
              <a:lnSpc>
                <a:spcPct val="120000"/>
              </a:lnSpc>
            </a:pPr>
            <a:r>
              <a:rPr lang="hu-HU" dirty="0"/>
              <a:t>Időpont egyeztetés</a:t>
            </a:r>
          </a:p>
          <a:p>
            <a:pPr>
              <a:lnSpc>
                <a:spcPct val="120000"/>
              </a:lnSpc>
            </a:pPr>
            <a:r>
              <a:rPr lang="hu-HU" dirty="0"/>
              <a:t>Hangtechnikai cég keresése</a:t>
            </a:r>
          </a:p>
          <a:p>
            <a:pPr lvl="1">
              <a:lnSpc>
                <a:spcPct val="120000"/>
              </a:lnSpc>
            </a:pPr>
            <a:r>
              <a:rPr lang="hu-HU" dirty="0"/>
              <a:t>Kihangosítás beszerzése</a:t>
            </a:r>
          </a:p>
        </p:txBody>
      </p:sp>
    </p:spTree>
    <p:extLst>
      <p:ext uri="{BB962C8B-B14F-4D97-AF65-F5344CB8AC3E}">
        <p14:creationId xmlns:p14="http://schemas.microsoft.com/office/powerpoint/2010/main" val="1343403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scography - nine inch nails">
            <a:extLst>
              <a:ext uri="{FF2B5EF4-FFF2-40B4-BE49-F238E27FC236}">
                <a16:creationId xmlns:a16="http://schemas.microsoft.com/office/drawing/2014/main" id="{1CD02194-D23E-45B9-B38B-49FFCB887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6946">
            <a:off x="9636682" y="4333601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errorizer: Terrorizer: World Downfall DIGI CD">
            <a:extLst>
              <a:ext uri="{FF2B5EF4-FFF2-40B4-BE49-F238E27FC236}">
                <a16:creationId xmlns:a16="http://schemas.microsoft.com/office/drawing/2014/main" id="{3693B468-A75F-4C86-8992-4F556EBF9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60794">
            <a:off x="8091688" y="4235616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ssues (Korn album) - Wikipedia">
            <a:extLst>
              <a:ext uri="{FF2B5EF4-FFF2-40B4-BE49-F238E27FC236}">
                <a16:creationId xmlns:a16="http://schemas.microsoft.com/office/drawing/2014/main" id="{88D42BC6-0815-4B4B-B88E-E421BD170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51348">
            <a:off x="-460313" y="4544145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rom Enslavement to Obliteration | Napalm Death">
            <a:extLst>
              <a:ext uri="{FF2B5EF4-FFF2-40B4-BE49-F238E27FC236}">
                <a16:creationId xmlns:a16="http://schemas.microsoft.com/office/drawing/2014/main" id="{270D8F27-399C-4226-BFAE-ED5A446F9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-100000"/>
                    </a14:imgEffect>
                    <a14:imgEffect>
                      <a14:colorTemperature colorTemp="4834"/>
                    </a14:imgEffect>
                    <a14:imgEffect>
                      <a14:brightnessContrast contrast="-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693" y="0"/>
            <a:ext cx="6120000" cy="61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ím 1">
            <a:extLst>
              <a:ext uri="{FF2B5EF4-FFF2-40B4-BE49-F238E27FC236}">
                <a16:creationId xmlns:a16="http://schemas.microsoft.com/office/drawing/2014/main" id="{81EEC902-D032-4961-A23E-2130DA8A6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6823" y="55095"/>
            <a:ext cx="4399735" cy="977838"/>
          </a:xfrm>
        </p:spPr>
        <p:txBody>
          <a:bodyPr>
            <a:normAutofit/>
          </a:bodyPr>
          <a:lstStyle/>
          <a:p>
            <a:r>
              <a:rPr lang="hu-HU" dirty="0">
                <a:solidFill>
                  <a:schemeClr val="bg1">
                    <a:lumMod val="95000"/>
                  </a:schemeClr>
                </a:solidFill>
                <a:effectLst>
                  <a:glow rad="101600">
                    <a:srgbClr val="7030A0">
                      <a:alpha val="60000"/>
                    </a:srgbClr>
                  </a:glow>
                </a:effectLst>
                <a:latin typeface="Old English Text MT" panose="03040902040508030806" pitchFamily="66" charset="0"/>
              </a:rPr>
              <a:t>Cégek felkeresése</a:t>
            </a:r>
          </a:p>
        </p:txBody>
      </p:sp>
      <p:sp>
        <p:nvSpPr>
          <p:cNvPr id="8" name="Tartalom helye 2">
            <a:extLst>
              <a:ext uri="{FF2B5EF4-FFF2-40B4-BE49-F238E27FC236}">
                <a16:creationId xmlns:a16="http://schemas.microsoft.com/office/drawing/2014/main" id="{E1D5CB8C-AB92-437C-89C3-3A95DEF66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1575" y="1226919"/>
            <a:ext cx="5950232" cy="4598148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hu-HU" sz="3600" dirty="0">
                <a:ln w="3175">
                  <a:noFill/>
                </a:ln>
                <a:solidFill>
                  <a:schemeClr val="bg1">
                    <a:lumMod val="95000"/>
                  </a:schemeClr>
                </a:solidFill>
                <a:effectLst>
                  <a:glow rad="101600">
                    <a:srgbClr val="7030A0">
                      <a:alpha val="60000"/>
                    </a:srgbClr>
                  </a:glow>
                </a:effectLst>
                <a:latin typeface="Old English Text MT" panose="03040902040508030806" pitchFamily="66" charset="0"/>
              </a:rPr>
              <a:t>Vendéglátási cégek keresése</a:t>
            </a:r>
          </a:p>
          <a:p>
            <a:pPr lvl="1">
              <a:lnSpc>
                <a:spcPct val="120000"/>
              </a:lnSpc>
            </a:pPr>
            <a:r>
              <a:rPr lang="hu-HU" sz="3200" dirty="0">
                <a:ln w="3175">
                  <a:noFill/>
                </a:ln>
                <a:solidFill>
                  <a:schemeClr val="bg1">
                    <a:lumMod val="95000"/>
                  </a:schemeClr>
                </a:solidFill>
                <a:effectLst>
                  <a:glow rad="101600">
                    <a:srgbClr val="7030A0">
                      <a:alpha val="60000"/>
                    </a:srgbClr>
                  </a:glow>
                </a:effectLst>
                <a:latin typeface="Old English Text MT" panose="03040902040508030806" pitchFamily="66" charset="0"/>
              </a:rPr>
              <a:t>Berendelni való árucikkek megbeszélése</a:t>
            </a:r>
          </a:p>
          <a:p>
            <a:pPr>
              <a:lnSpc>
                <a:spcPct val="120000"/>
              </a:lnSpc>
            </a:pPr>
            <a:r>
              <a:rPr lang="hu-HU" sz="3600" dirty="0">
                <a:ln w="3175">
                  <a:noFill/>
                </a:ln>
                <a:solidFill>
                  <a:schemeClr val="bg1">
                    <a:lumMod val="95000"/>
                  </a:schemeClr>
                </a:solidFill>
                <a:effectLst>
                  <a:glow rad="101600">
                    <a:srgbClr val="7030A0">
                      <a:alpha val="60000"/>
                    </a:srgbClr>
                  </a:glow>
                </a:effectLst>
                <a:latin typeface="Old English Text MT" panose="03040902040508030806" pitchFamily="66" charset="0"/>
              </a:rPr>
              <a:t>Biztosági cégek keresése</a:t>
            </a:r>
          </a:p>
          <a:p>
            <a:pPr lvl="1">
              <a:lnSpc>
                <a:spcPct val="120000"/>
              </a:lnSpc>
            </a:pPr>
            <a:r>
              <a:rPr lang="hu-HU" sz="3200" dirty="0">
                <a:ln w="3175">
                  <a:noFill/>
                </a:ln>
                <a:solidFill>
                  <a:schemeClr val="bg1">
                    <a:lumMod val="95000"/>
                  </a:schemeClr>
                </a:solidFill>
                <a:effectLst>
                  <a:glow rad="101600">
                    <a:srgbClr val="7030A0">
                      <a:alpha val="60000"/>
                    </a:srgbClr>
                  </a:glow>
                </a:effectLst>
                <a:latin typeface="Old English Text MT" panose="03040902040508030806" pitchFamily="66" charset="0"/>
              </a:rPr>
              <a:t>Időpont egyeztetés</a:t>
            </a:r>
          </a:p>
          <a:p>
            <a:pPr>
              <a:lnSpc>
                <a:spcPct val="120000"/>
              </a:lnSpc>
            </a:pPr>
            <a:r>
              <a:rPr lang="hu-HU" sz="3600" dirty="0">
                <a:ln w="3175">
                  <a:noFill/>
                </a:ln>
                <a:solidFill>
                  <a:schemeClr val="bg1">
                    <a:lumMod val="95000"/>
                  </a:schemeClr>
                </a:solidFill>
                <a:effectLst>
                  <a:glow rad="101600">
                    <a:srgbClr val="7030A0">
                      <a:alpha val="60000"/>
                    </a:srgbClr>
                  </a:glow>
                </a:effectLst>
                <a:latin typeface="Old English Text MT" panose="03040902040508030806" pitchFamily="66" charset="0"/>
              </a:rPr>
              <a:t>Hangtechnikai cég keresése</a:t>
            </a:r>
          </a:p>
          <a:p>
            <a:pPr lvl="1">
              <a:lnSpc>
                <a:spcPct val="120000"/>
              </a:lnSpc>
            </a:pPr>
            <a:r>
              <a:rPr lang="hu-HU" sz="3200" dirty="0">
                <a:ln w="3175">
                  <a:noFill/>
                </a:ln>
                <a:solidFill>
                  <a:schemeClr val="bg1">
                    <a:lumMod val="95000"/>
                  </a:schemeClr>
                </a:solidFill>
                <a:effectLst>
                  <a:glow rad="101600">
                    <a:srgbClr val="7030A0">
                      <a:alpha val="60000"/>
                    </a:srgbClr>
                  </a:glow>
                </a:effectLst>
                <a:latin typeface="Old English Text MT" panose="03040902040508030806" pitchFamily="66" charset="0"/>
              </a:rPr>
              <a:t>Kihangosítás beszerzése</a:t>
            </a:r>
          </a:p>
        </p:txBody>
      </p:sp>
      <p:sp>
        <p:nvSpPr>
          <p:cNvPr id="9" name="Cím 1">
            <a:extLst>
              <a:ext uri="{FF2B5EF4-FFF2-40B4-BE49-F238E27FC236}">
                <a16:creationId xmlns:a16="http://schemas.microsoft.com/office/drawing/2014/main" id="{023EB823-E9D1-49AF-950B-AB0A015973BB}"/>
              </a:ext>
            </a:extLst>
          </p:cNvPr>
          <p:cNvSpPr txBox="1">
            <a:spLocks/>
          </p:cNvSpPr>
          <p:nvPr/>
        </p:nvSpPr>
        <p:spPr>
          <a:xfrm>
            <a:off x="-17728888" y="25069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/>
              <a:t>Helyszín beszerzés</a:t>
            </a:r>
          </a:p>
        </p:txBody>
      </p:sp>
      <p:sp>
        <p:nvSpPr>
          <p:cNvPr id="10" name="Tartalom helye 2">
            <a:extLst>
              <a:ext uri="{FF2B5EF4-FFF2-40B4-BE49-F238E27FC236}">
                <a16:creationId xmlns:a16="http://schemas.microsoft.com/office/drawing/2014/main" id="{BE17BB7F-C298-4023-B238-3D0BF46BD0C3}"/>
              </a:ext>
            </a:extLst>
          </p:cNvPr>
          <p:cNvSpPr txBox="1">
            <a:spLocks/>
          </p:cNvSpPr>
          <p:nvPr/>
        </p:nvSpPr>
        <p:spPr>
          <a:xfrm>
            <a:off x="-13089467" y="2944017"/>
            <a:ext cx="130014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Városunk környékén klubok/lokációk megnézése Tulajdonosokkal megbeszélés</a:t>
            </a:r>
          </a:p>
        </p:txBody>
      </p:sp>
      <p:sp>
        <p:nvSpPr>
          <p:cNvPr id="11" name="Cím 1">
            <a:extLst>
              <a:ext uri="{FF2B5EF4-FFF2-40B4-BE49-F238E27FC236}">
                <a16:creationId xmlns:a16="http://schemas.microsoft.com/office/drawing/2014/main" id="{EE4F700C-85F8-46AD-9684-CFAF43D60359}"/>
              </a:ext>
            </a:extLst>
          </p:cNvPr>
          <p:cNvSpPr txBox="1">
            <a:spLocks/>
          </p:cNvSpPr>
          <p:nvPr/>
        </p:nvSpPr>
        <p:spPr>
          <a:xfrm>
            <a:off x="5198533" y="-1883928"/>
            <a:ext cx="3556000" cy="1325563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/>
              <a:t>Zenekarok</a:t>
            </a:r>
          </a:p>
        </p:txBody>
      </p:sp>
      <p:sp>
        <p:nvSpPr>
          <p:cNvPr id="12" name="Tartalom helye 2">
            <a:extLst>
              <a:ext uri="{FF2B5EF4-FFF2-40B4-BE49-F238E27FC236}">
                <a16:creationId xmlns:a16="http://schemas.microsoft.com/office/drawing/2014/main" id="{59E499BD-2DA0-4F38-9DFB-6ACB0A43B89B}"/>
              </a:ext>
            </a:extLst>
          </p:cNvPr>
          <p:cNvSpPr txBox="1">
            <a:spLocks/>
          </p:cNvSpPr>
          <p:nvPr/>
        </p:nvSpPr>
        <p:spPr>
          <a:xfrm>
            <a:off x="3916533" y="7416581"/>
            <a:ext cx="6119999" cy="1845952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hu-HU" dirty="0"/>
              <a:t>Egyeztetés a zenekarokkal</a:t>
            </a:r>
          </a:p>
          <a:p>
            <a:pPr marL="0" indent="0" algn="ctr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hu-HU" dirty="0"/>
              <a:t>Hiányzó hangszerek bérlése</a:t>
            </a:r>
          </a:p>
        </p:txBody>
      </p:sp>
    </p:spTree>
    <p:extLst>
      <p:ext uri="{BB962C8B-B14F-4D97-AF65-F5344CB8AC3E}">
        <p14:creationId xmlns:p14="http://schemas.microsoft.com/office/powerpoint/2010/main" val="3876452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scography - nine inch nails">
            <a:extLst>
              <a:ext uri="{FF2B5EF4-FFF2-40B4-BE49-F238E27FC236}">
                <a16:creationId xmlns:a16="http://schemas.microsoft.com/office/drawing/2014/main" id="{1CD02194-D23E-45B9-B38B-49FFCB887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6946">
            <a:off x="9636682" y="4333601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Issues (Korn album) - Wikipedia">
            <a:extLst>
              <a:ext uri="{FF2B5EF4-FFF2-40B4-BE49-F238E27FC236}">
                <a16:creationId xmlns:a16="http://schemas.microsoft.com/office/drawing/2014/main" id="{9A5744AA-FA94-49E9-8FD7-B6A77391F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51348">
            <a:off x="-460313" y="4544145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From Enslavement to Obliteration | Napalm Death">
            <a:extLst>
              <a:ext uri="{FF2B5EF4-FFF2-40B4-BE49-F238E27FC236}">
                <a16:creationId xmlns:a16="http://schemas.microsoft.com/office/drawing/2014/main" id="{2102C8C5-B2AC-4B0C-A02E-BE6DAE22B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082" y="4544145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errorizer: Terrorizer: World Downfall DIGI CD">
            <a:extLst>
              <a:ext uri="{FF2B5EF4-FFF2-40B4-BE49-F238E27FC236}">
                <a16:creationId xmlns:a16="http://schemas.microsoft.com/office/drawing/2014/main" id="{3693B468-A75F-4C86-8992-4F556EBF9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-100000"/>
                    </a14:imgEffect>
                    <a14:imgEffect>
                      <a14:colorTemperature colorTemp="3612"/>
                    </a14:imgEffect>
                    <a14:imgEffect>
                      <a14:saturation sat="40000"/>
                    </a14:imgEffect>
                    <a14:imgEffect>
                      <a14:brightnessContrast bright="-31000" contrast="-2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8400" y="0"/>
            <a:ext cx="6120000" cy="61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ím 1">
            <a:extLst>
              <a:ext uri="{FF2B5EF4-FFF2-40B4-BE49-F238E27FC236}">
                <a16:creationId xmlns:a16="http://schemas.microsoft.com/office/drawing/2014/main" id="{91795B84-207E-49A7-98E9-A35CBFA0B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400" y="75218"/>
            <a:ext cx="3556000" cy="1325563"/>
          </a:xfrm>
        </p:spPr>
        <p:txBody>
          <a:bodyPr>
            <a:prstTxWarp prst="textChevron">
              <a:avLst/>
            </a:prstTxWarp>
            <a:normAutofit/>
          </a:bodyPr>
          <a:lstStyle/>
          <a:p>
            <a:pPr algn="ctr"/>
            <a:r>
              <a:rPr lang="hu-HU" sz="5400" dirty="0">
                <a:effectLst>
                  <a:glow rad="101600">
                    <a:srgbClr val="FF0000">
                      <a:alpha val="60000"/>
                    </a:srgbClr>
                  </a:glow>
                </a:effectLst>
                <a:latin typeface="Informal Roman" panose="030604020304060B0204" pitchFamily="66" charset="0"/>
              </a:rPr>
              <a:t>Zenekarok</a:t>
            </a:r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id="{D4DC1482-85A5-4830-82D9-A10C6059E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8399" y="0"/>
            <a:ext cx="6119999" cy="6120000"/>
          </a:xfrm>
        </p:spPr>
        <p:txBody>
          <a:bodyPr numCol="1" anchor="ctr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hu-HU" sz="3200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Egyeztetés a zenekarokkal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hu-HU" sz="3200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Hiányzó hangszerek bérlése</a:t>
            </a:r>
          </a:p>
        </p:txBody>
      </p:sp>
      <p:sp>
        <p:nvSpPr>
          <p:cNvPr id="10" name="Tartalom helye 2">
            <a:extLst>
              <a:ext uri="{FF2B5EF4-FFF2-40B4-BE49-F238E27FC236}">
                <a16:creationId xmlns:a16="http://schemas.microsoft.com/office/drawing/2014/main" id="{60AB69D0-9BF1-4B47-BF10-E2E408900596}"/>
              </a:ext>
            </a:extLst>
          </p:cNvPr>
          <p:cNvSpPr txBox="1">
            <a:spLocks/>
          </p:cNvSpPr>
          <p:nvPr/>
        </p:nvSpPr>
        <p:spPr>
          <a:xfrm>
            <a:off x="-10346500" y="2306467"/>
            <a:ext cx="10160233" cy="150706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hu-HU" sz="3600" dirty="0">
                <a:ln w="3175">
                  <a:noFill/>
                </a:ln>
                <a:solidFill>
                  <a:schemeClr val="bg1">
                    <a:lumMod val="95000"/>
                  </a:schemeClr>
                </a:solidFill>
                <a:effectLst>
                  <a:glow rad="101600">
                    <a:srgbClr val="7030A0">
                      <a:alpha val="60000"/>
                    </a:srgbClr>
                  </a:glow>
                </a:effectLst>
                <a:latin typeface="Old English Text MT" panose="03040902040508030806" pitchFamily="66" charset="0"/>
              </a:rPr>
              <a:t>Vendéglátási cégek keresése </a:t>
            </a:r>
            <a:r>
              <a:rPr lang="hu-HU" sz="3200" dirty="0">
                <a:ln w="3175">
                  <a:noFill/>
                </a:ln>
                <a:solidFill>
                  <a:schemeClr val="bg1">
                    <a:lumMod val="95000"/>
                  </a:schemeClr>
                </a:solidFill>
                <a:effectLst>
                  <a:glow rad="101600">
                    <a:srgbClr val="7030A0">
                      <a:alpha val="60000"/>
                    </a:srgbClr>
                  </a:glow>
                </a:effectLst>
                <a:latin typeface="Old English Text MT" panose="03040902040508030806" pitchFamily="66" charset="0"/>
              </a:rPr>
              <a:t>Berendelni való árucikkek megbeszélése </a:t>
            </a:r>
            <a:r>
              <a:rPr lang="hu-HU" sz="3600" dirty="0">
                <a:ln w="3175">
                  <a:noFill/>
                </a:ln>
                <a:solidFill>
                  <a:schemeClr val="bg1">
                    <a:lumMod val="95000"/>
                  </a:schemeClr>
                </a:solidFill>
                <a:effectLst>
                  <a:glow rad="101600">
                    <a:srgbClr val="7030A0">
                      <a:alpha val="60000"/>
                    </a:srgbClr>
                  </a:glow>
                </a:effectLst>
                <a:latin typeface="Old English Text MT" panose="03040902040508030806" pitchFamily="66" charset="0"/>
              </a:rPr>
              <a:t>Biztosági cégek keresése </a:t>
            </a:r>
            <a:r>
              <a:rPr lang="hu-HU" sz="3200" dirty="0">
                <a:ln w="3175">
                  <a:noFill/>
                </a:ln>
                <a:solidFill>
                  <a:schemeClr val="bg1">
                    <a:lumMod val="95000"/>
                  </a:schemeClr>
                </a:solidFill>
                <a:effectLst>
                  <a:glow rad="101600">
                    <a:srgbClr val="7030A0">
                      <a:alpha val="60000"/>
                    </a:srgbClr>
                  </a:glow>
                </a:effectLst>
                <a:latin typeface="Old English Text MT" panose="03040902040508030806" pitchFamily="66" charset="0"/>
              </a:rPr>
              <a:t>Időpont egyeztetés </a:t>
            </a:r>
            <a:r>
              <a:rPr lang="hu-HU" sz="3600" dirty="0">
                <a:ln w="3175">
                  <a:noFill/>
                </a:ln>
                <a:solidFill>
                  <a:schemeClr val="bg1">
                    <a:lumMod val="95000"/>
                  </a:schemeClr>
                </a:solidFill>
                <a:effectLst>
                  <a:glow rad="101600">
                    <a:srgbClr val="7030A0">
                      <a:alpha val="60000"/>
                    </a:srgbClr>
                  </a:glow>
                </a:effectLst>
                <a:latin typeface="Old English Text MT" panose="03040902040508030806" pitchFamily="66" charset="0"/>
              </a:rPr>
              <a:t>Hangtechnikai cég keresése </a:t>
            </a:r>
            <a:r>
              <a:rPr lang="hu-HU" sz="3200" dirty="0">
                <a:ln w="3175">
                  <a:noFill/>
                </a:ln>
                <a:solidFill>
                  <a:schemeClr val="bg1">
                    <a:lumMod val="95000"/>
                  </a:schemeClr>
                </a:solidFill>
                <a:effectLst>
                  <a:glow rad="101600">
                    <a:srgbClr val="7030A0">
                      <a:alpha val="60000"/>
                    </a:srgbClr>
                  </a:glow>
                </a:effectLst>
                <a:latin typeface="Old English Text MT" panose="03040902040508030806" pitchFamily="66" charset="0"/>
              </a:rPr>
              <a:t>Kihangosítás beszerzése</a:t>
            </a:r>
          </a:p>
        </p:txBody>
      </p:sp>
      <p:sp>
        <p:nvSpPr>
          <p:cNvPr id="11" name="Cím 1">
            <a:extLst>
              <a:ext uri="{FF2B5EF4-FFF2-40B4-BE49-F238E27FC236}">
                <a16:creationId xmlns:a16="http://schemas.microsoft.com/office/drawing/2014/main" id="{A6154ED2-C792-4EAA-81D2-421F29540126}"/>
              </a:ext>
            </a:extLst>
          </p:cNvPr>
          <p:cNvSpPr txBox="1">
            <a:spLocks/>
          </p:cNvSpPr>
          <p:nvPr/>
        </p:nvSpPr>
        <p:spPr>
          <a:xfrm>
            <a:off x="-7331577" y="1071095"/>
            <a:ext cx="4399735" cy="977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>
                <a:solidFill>
                  <a:schemeClr val="bg1">
                    <a:lumMod val="95000"/>
                  </a:schemeClr>
                </a:solidFill>
                <a:effectLst>
                  <a:glow rad="101600">
                    <a:srgbClr val="7030A0">
                      <a:alpha val="60000"/>
                    </a:srgbClr>
                  </a:glow>
                </a:effectLst>
                <a:latin typeface="Old English Text MT" panose="03040902040508030806" pitchFamily="66" charset="0"/>
              </a:rPr>
              <a:t>Cégek felkeresése</a:t>
            </a:r>
          </a:p>
        </p:txBody>
      </p:sp>
      <p:sp>
        <p:nvSpPr>
          <p:cNvPr id="12" name="Tartalom helye 2">
            <a:extLst>
              <a:ext uri="{FF2B5EF4-FFF2-40B4-BE49-F238E27FC236}">
                <a16:creationId xmlns:a16="http://schemas.microsoft.com/office/drawing/2014/main" id="{0CFF9126-54F9-4B00-9D46-1DCF2ACF1385}"/>
              </a:ext>
            </a:extLst>
          </p:cNvPr>
          <p:cNvSpPr txBox="1">
            <a:spLocks/>
          </p:cNvSpPr>
          <p:nvPr/>
        </p:nvSpPr>
        <p:spPr>
          <a:xfrm>
            <a:off x="5493554" y="7424145"/>
            <a:ext cx="5242179" cy="358180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hu-HU" dirty="0"/>
              <a:t>Üdítők 450-ért vesszük 1000-ért adjuk </a:t>
            </a:r>
          </a:p>
          <a:p>
            <a:pPr>
              <a:lnSpc>
                <a:spcPct val="110000"/>
              </a:lnSpc>
            </a:pPr>
            <a:r>
              <a:rPr lang="hu-HU" dirty="0"/>
              <a:t>Sör 800-ért vesszük 1500-ért adjuk</a:t>
            </a:r>
          </a:p>
          <a:p>
            <a:pPr>
              <a:lnSpc>
                <a:spcPct val="110000"/>
              </a:lnSpc>
            </a:pPr>
            <a:r>
              <a:rPr lang="hu-HU" dirty="0"/>
              <a:t>Rágcsálni való 500-ért vesszük 1000-ért adjuk</a:t>
            </a:r>
          </a:p>
        </p:txBody>
      </p:sp>
      <p:sp>
        <p:nvSpPr>
          <p:cNvPr id="13" name="Cím 1">
            <a:extLst>
              <a:ext uri="{FF2B5EF4-FFF2-40B4-BE49-F238E27FC236}">
                <a16:creationId xmlns:a16="http://schemas.microsoft.com/office/drawing/2014/main" id="{328D1736-00C0-41B9-8EC5-CA3E27F0133F}"/>
              </a:ext>
            </a:extLst>
          </p:cNvPr>
          <p:cNvSpPr txBox="1">
            <a:spLocks/>
          </p:cNvSpPr>
          <p:nvPr/>
        </p:nvSpPr>
        <p:spPr>
          <a:xfrm>
            <a:off x="5681134" y="-1744135"/>
            <a:ext cx="2516882" cy="132556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/>
              <a:t>Élelmezés</a:t>
            </a:r>
          </a:p>
        </p:txBody>
      </p:sp>
    </p:spTree>
    <p:extLst>
      <p:ext uri="{BB962C8B-B14F-4D97-AF65-F5344CB8AC3E}">
        <p14:creationId xmlns:p14="http://schemas.microsoft.com/office/powerpoint/2010/main" val="2189074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0" descr="Issues (Korn album) - Wikipedia">
            <a:extLst>
              <a:ext uri="{FF2B5EF4-FFF2-40B4-BE49-F238E27FC236}">
                <a16:creationId xmlns:a16="http://schemas.microsoft.com/office/drawing/2014/main" id="{0FE108D7-A767-4DE2-A882-655B4D126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51348">
            <a:off x="-324683" y="4544145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From Enslavement to Obliteration | Napalm Death">
            <a:extLst>
              <a:ext uri="{FF2B5EF4-FFF2-40B4-BE49-F238E27FC236}">
                <a16:creationId xmlns:a16="http://schemas.microsoft.com/office/drawing/2014/main" id="{A3502EC9-9E7F-4A33-B019-49AE1236A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082" y="4544145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Terrorizer: Terrorizer: World Downfall DIGI CD">
            <a:extLst>
              <a:ext uri="{FF2B5EF4-FFF2-40B4-BE49-F238E27FC236}">
                <a16:creationId xmlns:a16="http://schemas.microsoft.com/office/drawing/2014/main" id="{4400B5D1-208D-4E18-8E10-C6C0094A0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60794">
            <a:off x="791178" y="4333600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scography - nine inch nails">
            <a:extLst>
              <a:ext uri="{FF2B5EF4-FFF2-40B4-BE49-F238E27FC236}">
                <a16:creationId xmlns:a16="http://schemas.microsoft.com/office/drawing/2014/main" id="{1CD02194-D23E-45B9-B38B-49FFCB887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-100000"/>
                    </a14:imgEffect>
                    <a14:imgEffect>
                      <a14:colorTemperature colorTemp="4501"/>
                    </a14:imgEffect>
                    <a14:imgEffect>
                      <a14:saturation sat="86000"/>
                    </a14:imgEffect>
                    <a14:imgEffect>
                      <a14:brightnessContrast bright="-35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979" y="0"/>
            <a:ext cx="6120000" cy="61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artalom helye 2">
            <a:extLst>
              <a:ext uri="{FF2B5EF4-FFF2-40B4-BE49-F238E27FC236}">
                <a16:creationId xmlns:a16="http://schemas.microsoft.com/office/drawing/2014/main" id="{FDB83929-9234-469A-BA95-B0265964D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2023094" y="2810933"/>
            <a:ext cx="6119999" cy="1522667"/>
          </a:xfrm>
        </p:spPr>
        <p:txBody>
          <a:bodyPr numCol="1" anchor="ctr">
            <a:normAutofit fontScale="77500" lnSpcReduction="20000"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hu-HU" sz="3200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Egyeztetés a zenekarokkal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hu-HU" sz="3200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Hiányzó hangszerek bérlése</a:t>
            </a:r>
          </a:p>
        </p:txBody>
      </p:sp>
      <p:sp>
        <p:nvSpPr>
          <p:cNvPr id="10" name="Cím 1">
            <a:extLst>
              <a:ext uri="{FF2B5EF4-FFF2-40B4-BE49-F238E27FC236}">
                <a16:creationId xmlns:a16="http://schemas.microsoft.com/office/drawing/2014/main" id="{8CB06C20-5B1A-43EF-9A03-F5EC00348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023094" y="1485370"/>
            <a:ext cx="3556000" cy="1325563"/>
          </a:xfrm>
        </p:spPr>
        <p:txBody>
          <a:bodyPr>
            <a:prstTxWarp prst="textChevron">
              <a:avLst/>
            </a:prstTxWarp>
            <a:normAutofit/>
          </a:bodyPr>
          <a:lstStyle/>
          <a:p>
            <a:pPr algn="ctr"/>
            <a:r>
              <a:rPr lang="hu-HU" sz="5400" dirty="0">
                <a:effectLst>
                  <a:glow rad="101600">
                    <a:srgbClr val="FF0000">
                      <a:alpha val="60000"/>
                    </a:srgbClr>
                  </a:glow>
                </a:effectLst>
                <a:latin typeface="Informal Roman" panose="030604020304060B0204" pitchFamily="66" charset="0"/>
              </a:rPr>
              <a:t>Zenekarok</a:t>
            </a:r>
          </a:p>
        </p:txBody>
      </p:sp>
      <p:sp>
        <p:nvSpPr>
          <p:cNvPr id="11" name="Cím 1">
            <a:extLst>
              <a:ext uri="{FF2B5EF4-FFF2-40B4-BE49-F238E27FC236}">
                <a16:creationId xmlns:a16="http://schemas.microsoft.com/office/drawing/2014/main" id="{07491C42-C571-446D-B509-84F2C7D6A75A}"/>
              </a:ext>
            </a:extLst>
          </p:cNvPr>
          <p:cNvSpPr txBox="1">
            <a:spLocks/>
          </p:cNvSpPr>
          <p:nvPr/>
        </p:nvSpPr>
        <p:spPr>
          <a:xfrm>
            <a:off x="5681134" y="169332"/>
            <a:ext cx="2516882" cy="132556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>
                <a:solidFill>
                  <a:srgbClr val="A3D3FF"/>
                </a:solidFill>
                <a:effectLst>
                  <a:glow rad="101600">
                    <a:srgbClr val="FF66FF"/>
                  </a:glow>
                </a:effectLst>
              </a:rPr>
              <a:t>Élelmezés</a:t>
            </a:r>
          </a:p>
        </p:txBody>
      </p:sp>
      <p:sp>
        <p:nvSpPr>
          <p:cNvPr id="12" name="Tartalom helye 2">
            <a:extLst>
              <a:ext uri="{FF2B5EF4-FFF2-40B4-BE49-F238E27FC236}">
                <a16:creationId xmlns:a16="http://schemas.microsoft.com/office/drawing/2014/main" id="{1C267CE2-1E82-43DC-9405-581C54604F36}"/>
              </a:ext>
            </a:extLst>
          </p:cNvPr>
          <p:cNvSpPr txBox="1">
            <a:spLocks/>
          </p:cNvSpPr>
          <p:nvPr/>
        </p:nvSpPr>
        <p:spPr>
          <a:xfrm>
            <a:off x="5334978" y="1781364"/>
            <a:ext cx="6119999" cy="358180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hu-HU" sz="3200" dirty="0">
                <a:ln w="3175">
                  <a:noFill/>
                </a:ln>
                <a:solidFill>
                  <a:srgbClr val="A3D3FF"/>
                </a:solidFill>
                <a:effectLst>
                  <a:glow rad="76200">
                    <a:srgbClr val="FF66FF"/>
                  </a:glow>
                </a:effectLst>
              </a:rPr>
              <a:t>Üdítők 450-ért vesszük 1000-ért adjuk </a:t>
            </a:r>
          </a:p>
          <a:p>
            <a:pPr>
              <a:lnSpc>
                <a:spcPct val="110000"/>
              </a:lnSpc>
            </a:pPr>
            <a:r>
              <a:rPr lang="hu-HU" sz="3200" dirty="0">
                <a:ln w="3175">
                  <a:noFill/>
                </a:ln>
                <a:solidFill>
                  <a:srgbClr val="A3D3FF"/>
                </a:solidFill>
                <a:effectLst>
                  <a:glow rad="76200">
                    <a:srgbClr val="FF66FF"/>
                  </a:glow>
                </a:effectLst>
              </a:rPr>
              <a:t>Sör 800-ért vesszük 1500-ért adjuk</a:t>
            </a:r>
          </a:p>
          <a:p>
            <a:pPr>
              <a:lnSpc>
                <a:spcPct val="110000"/>
              </a:lnSpc>
            </a:pPr>
            <a:r>
              <a:rPr lang="hu-HU" sz="3200" dirty="0">
                <a:ln w="3175">
                  <a:noFill/>
                </a:ln>
                <a:solidFill>
                  <a:srgbClr val="A3D3FF"/>
                </a:solidFill>
                <a:effectLst>
                  <a:glow rad="76200">
                    <a:srgbClr val="FF66FF"/>
                  </a:glow>
                </a:effectLst>
              </a:rPr>
              <a:t>Rágcsálni való 500-ért vesszük 1000-ért adjuk</a:t>
            </a:r>
          </a:p>
        </p:txBody>
      </p:sp>
    </p:spTree>
    <p:extLst>
      <p:ext uri="{BB962C8B-B14F-4D97-AF65-F5344CB8AC3E}">
        <p14:creationId xmlns:p14="http://schemas.microsoft.com/office/powerpoint/2010/main" val="2263026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Issues (Korn album) - Wikipedia">
            <a:extLst>
              <a:ext uri="{FF2B5EF4-FFF2-40B4-BE49-F238E27FC236}">
                <a16:creationId xmlns:a16="http://schemas.microsoft.com/office/drawing/2014/main" id="{88D42BC6-0815-4B4B-B88E-E421BD170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51348">
            <a:off x="-324683" y="4544145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rom Enslavement to Obliteration | Napalm Death">
            <a:extLst>
              <a:ext uri="{FF2B5EF4-FFF2-40B4-BE49-F238E27FC236}">
                <a16:creationId xmlns:a16="http://schemas.microsoft.com/office/drawing/2014/main" id="{270D8F27-399C-4226-BFAE-ED5A446F9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082" y="4544145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errorizer: Terrorizer: World Downfall DIGI CD">
            <a:extLst>
              <a:ext uri="{FF2B5EF4-FFF2-40B4-BE49-F238E27FC236}">
                <a16:creationId xmlns:a16="http://schemas.microsoft.com/office/drawing/2014/main" id="{3693B468-A75F-4C86-8992-4F556EBF9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60794">
            <a:off x="791178" y="4333600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scography - nine inch nails">
            <a:extLst>
              <a:ext uri="{FF2B5EF4-FFF2-40B4-BE49-F238E27FC236}">
                <a16:creationId xmlns:a16="http://schemas.microsoft.com/office/drawing/2014/main" id="{1CD02194-D23E-45B9-B38B-49FFCB887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6946">
            <a:off x="1620473" y="4357433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artalom helye 2">
            <a:extLst>
              <a:ext uri="{FF2B5EF4-FFF2-40B4-BE49-F238E27FC236}">
                <a16:creationId xmlns:a16="http://schemas.microsoft.com/office/drawing/2014/main" id="{F4430519-C53E-4A9B-8844-906DA5622D82}"/>
              </a:ext>
            </a:extLst>
          </p:cNvPr>
          <p:cNvSpPr txBox="1">
            <a:spLocks/>
          </p:cNvSpPr>
          <p:nvPr/>
        </p:nvSpPr>
        <p:spPr>
          <a:xfrm>
            <a:off x="-6993288" y="2215630"/>
            <a:ext cx="6119999" cy="358180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hu-HU" sz="3200" dirty="0">
                <a:ln w="3175">
                  <a:noFill/>
                </a:ln>
                <a:solidFill>
                  <a:srgbClr val="A3D3FF"/>
                </a:solidFill>
                <a:effectLst>
                  <a:glow rad="76200">
                    <a:srgbClr val="FF66FF"/>
                  </a:glow>
                </a:effectLst>
              </a:rPr>
              <a:t>Üdítők 450-ért vesszük 1000-ért adjuk </a:t>
            </a:r>
          </a:p>
          <a:p>
            <a:pPr>
              <a:lnSpc>
                <a:spcPct val="110000"/>
              </a:lnSpc>
            </a:pPr>
            <a:r>
              <a:rPr lang="hu-HU" sz="3200" dirty="0">
                <a:ln w="3175">
                  <a:noFill/>
                </a:ln>
                <a:solidFill>
                  <a:srgbClr val="A3D3FF"/>
                </a:solidFill>
                <a:effectLst>
                  <a:glow rad="76200">
                    <a:srgbClr val="FF66FF"/>
                  </a:glow>
                </a:effectLst>
              </a:rPr>
              <a:t>Sör 800-ért vesszük 1500-ért adjuk</a:t>
            </a:r>
          </a:p>
          <a:p>
            <a:pPr>
              <a:lnSpc>
                <a:spcPct val="110000"/>
              </a:lnSpc>
            </a:pPr>
            <a:r>
              <a:rPr lang="hu-HU" sz="3200" dirty="0">
                <a:ln w="3175">
                  <a:noFill/>
                </a:ln>
                <a:solidFill>
                  <a:srgbClr val="A3D3FF"/>
                </a:solidFill>
                <a:effectLst>
                  <a:glow rad="76200">
                    <a:srgbClr val="FF66FF"/>
                  </a:glow>
                </a:effectLst>
              </a:rPr>
              <a:t>Rágcsálni való 500-ért vesszük 1000-ért adjuk</a:t>
            </a:r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2E6006FF-FC38-4865-9335-00A2463BCDF7}"/>
              </a:ext>
            </a:extLst>
          </p:cNvPr>
          <p:cNvSpPr txBox="1">
            <a:spLocks/>
          </p:cNvSpPr>
          <p:nvPr/>
        </p:nvSpPr>
        <p:spPr>
          <a:xfrm>
            <a:off x="-4851399" y="397785"/>
            <a:ext cx="2516882" cy="132556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>
                <a:solidFill>
                  <a:srgbClr val="A3D3FF"/>
                </a:solidFill>
                <a:effectLst>
                  <a:glow rad="101600">
                    <a:srgbClr val="FF66FF"/>
                  </a:glow>
                </a:effectLst>
              </a:rPr>
              <a:t>Élelmezés</a:t>
            </a:r>
          </a:p>
        </p:txBody>
      </p:sp>
    </p:spTree>
    <p:extLst>
      <p:ext uri="{BB962C8B-B14F-4D97-AF65-F5344CB8AC3E}">
        <p14:creationId xmlns:p14="http://schemas.microsoft.com/office/powerpoint/2010/main" val="11406082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ass scaling="37"/>
                    </a14:imgEffect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35BEE23B-709C-4F37-AA08-FB23BF43A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827" y="534678"/>
            <a:ext cx="10259639" cy="6153989"/>
          </a:xfrm>
          <a:noFill/>
        </p:spPr>
        <p:txBody>
          <a:bodyPr>
            <a:normAutofit/>
          </a:bodyPr>
          <a:lstStyle/>
          <a:p>
            <a:r>
              <a:rPr lang="hu-HU" sz="6000" dirty="0">
                <a:ln>
                  <a:solidFill>
                    <a:sysClr val="windowText" lastClr="000000"/>
                  </a:solidFill>
                </a:ln>
                <a:gradFill flip="none" rotWithShape="1">
                  <a:gsLst>
                    <a:gs pos="12000">
                      <a:srgbClr val="5745C3"/>
                    </a:gs>
                    <a:gs pos="81000">
                      <a:srgbClr val="7030A0"/>
                    </a:gs>
                    <a:gs pos="45000">
                      <a:srgbClr val="FF66FF"/>
                    </a:gs>
                  </a:gsLst>
                  <a:lin ang="5400000" scaled="1"/>
                  <a:tileRect/>
                </a:gradFill>
                <a:effectLst>
                  <a:glow rad="127000">
                    <a:srgbClr val="893BC3">
                      <a:alpha val="60000"/>
                    </a:srgbClr>
                  </a:glow>
                </a:effectLst>
                <a:latin typeface="Matura MT Script Capitals" panose="03020802060602070202" pitchFamily="66" charset="0"/>
                <a:cs typeface="Times New Roman" panose="02020603050405020304" pitchFamily="18" charset="0"/>
              </a:rPr>
              <a:t>Nyitás	18:00</a:t>
            </a:r>
          </a:p>
          <a:p>
            <a:r>
              <a:rPr lang="hu-HU" sz="6000" dirty="0">
                <a:ln>
                  <a:solidFill>
                    <a:sysClr val="windowText" lastClr="000000"/>
                  </a:solidFill>
                </a:ln>
                <a:gradFill flip="none" rotWithShape="1">
                  <a:gsLst>
                    <a:gs pos="12000">
                      <a:srgbClr val="5745C3"/>
                    </a:gs>
                    <a:gs pos="81000">
                      <a:srgbClr val="7030A0"/>
                    </a:gs>
                    <a:gs pos="45000">
                      <a:srgbClr val="FF66FF"/>
                    </a:gs>
                  </a:gsLst>
                  <a:lin ang="5400000" scaled="1"/>
                  <a:tileRect/>
                </a:gradFill>
                <a:effectLst>
                  <a:glow rad="127000">
                    <a:srgbClr val="893BC3">
                      <a:alpha val="60000"/>
                    </a:srgbClr>
                  </a:glow>
                </a:effectLst>
                <a:latin typeface="Matura MT Script Capitals" panose="03020802060602070202" pitchFamily="66" charset="0"/>
                <a:cs typeface="Times New Roman" panose="02020603050405020304" pitchFamily="18" charset="0"/>
              </a:rPr>
              <a:t>Koncertek	18:30-21:00</a:t>
            </a:r>
          </a:p>
          <a:p>
            <a:pPr lvl="1"/>
            <a:r>
              <a:rPr lang="hu-HU" sz="5400" dirty="0">
                <a:ln>
                  <a:solidFill>
                    <a:sysClr val="windowText" lastClr="000000"/>
                  </a:solidFill>
                </a:ln>
                <a:gradFill flip="none" rotWithShape="1">
                  <a:gsLst>
                    <a:gs pos="12000">
                      <a:srgbClr val="5745C3"/>
                    </a:gs>
                    <a:gs pos="81000">
                      <a:srgbClr val="7030A0"/>
                    </a:gs>
                    <a:gs pos="45000">
                      <a:srgbClr val="FF66FF"/>
                    </a:gs>
                  </a:gsLst>
                  <a:lin ang="5400000" scaled="1"/>
                  <a:tileRect/>
                </a:gradFill>
                <a:effectLst>
                  <a:glow rad="127000">
                    <a:srgbClr val="893BC3">
                      <a:alpha val="60000"/>
                    </a:srgbClr>
                  </a:glow>
                </a:effectLst>
                <a:latin typeface="Matura MT Script Capitals" panose="03020802060602070202" pitchFamily="66" charset="0"/>
                <a:cs typeface="Times New Roman" panose="02020603050405020304" pitchFamily="18" charset="0"/>
              </a:rPr>
              <a:t>Fellépések </a:t>
            </a:r>
          </a:p>
          <a:p>
            <a:pPr lvl="2"/>
            <a:r>
              <a:rPr lang="hu-HU" sz="5000" dirty="0">
                <a:ln>
                  <a:solidFill>
                    <a:sysClr val="windowText" lastClr="000000"/>
                  </a:solidFill>
                </a:ln>
                <a:gradFill flip="none" rotWithShape="1">
                  <a:gsLst>
                    <a:gs pos="12000">
                      <a:srgbClr val="5745C3"/>
                    </a:gs>
                    <a:gs pos="81000">
                      <a:srgbClr val="7030A0"/>
                    </a:gs>
                    <a:gs pos="45000">
                      <a:srgbClr val="FF66FF"/>
                    </a:gs>
                  </a:gsLst>
                  <a:lin ang="5400000" scaled="1"/>
                  <a:tileRect/>
                </a:gradFill>
                <a:effectLst>
                  <a:glow rad="127000">
                    <a:srgbClr val="893BC3">
                      <a:alpha val="60000"/>
                    </a:srgbClr>
                  </a:glow>
                </a:effectLst>
                <a:latin typeface="Matura MT Script Capitals" panose="03020802060602070202" pitchFamily="66" charset="0"/>
                <a:cs typeface="Times New Roman" panose="02020603050405020304" pitchFamily="18" charset="0"/>
              </a:rPr>
              <a:t>A 	18:30-19:00</a:t>
            </a:r>
          </a:p>
          <a:p>
            <a:pPr lvl="2"/>
            <a:r>
              <a:rPr lang="hu-HU" sz="5000" dirty="0">
                <a:ln>
                  <a:solidFill>
                    <a:sysClr val="windowText" lastClr="000000"/>
                  </a:solidFill>
                </a:ln>
                <a:gradFill flip="none" rotWithShape="1">
                  <a:gsLst>
                    <a:gs pos="12000">
                      <a:srgbClr val="5745C3"/>
                    </a:gs>
                    <a:gs pos="81000">
                      <a:srgbClr val="7030A0"/>
                    </a:gs>
                    <a:gs pos="45000">
                      <a:srgbClr val="FF66FF"/>
                    </a:gs>
                  </a:gsLst>
                  <a:lin ang="5400000" scaled="1"/>
                  <a:tileRect/>
                </a:gradFill>
                <a:effectLst>
                  <a:glow rad="127000">
                    <a:srgbClr val="893BC3">
                      <a:alpha val="60000"/>
                    </a:srgbClr>
                  </a:glow>
                </a:effectLst>
                <a:latin typeface="Matura MT Script Capitals" panose="03020802060602070202" pitchFamily="66" charset="0"/>
                <a:cs typeface="Times New Roman" panose="02020603050405020304" pitchFamily="18" charset="0"/>
              </a:rPr>
              <a:t>B 	19:30-20:00</a:t>
            </a:r>
          </a:p>
          <a:p>
            <a:pPr lvl="2"/>
            <a:r>
              <a:rPr lang="hu-HU" sz="5000" dirty="0">
                <a:ln>
                  <a:solidFill>
                    <a:sysClr val="windowText" lastClr="000000"/>
                  </a:solidFill>
                </a:ln>
                <a:gradFill flip="none" rotWithShape="1">
                  <a:gsLst>
                    <a:gs pos="12000">
                      <a:srgbClr val="5745C3"/>
                    </a:gs>
                    <a:gs pos="81000">
                      <a:srgbClr val="7030A0"/>
                    </a:gs>
                    <a:gs pos="45000">
                      <a:srgbClr val="FF66FF"/>
                    </a:gs>
                  </a:gsLst>
                  <a:lin ang="5400000" scaled="1"/>
                  <a:tileRect/>
                </a:gradFill>
                <a:effectLst>
                  <a:glow rad="127000">
                    <a:srgbClr val="893BC3">
                      <a:alpha val="60000"/>
                    </a:srgbClr>
                  </a:glow>
                </a:effectLst>
                <a:latin typeface="Matura MT Script Capitals" panose="03020802060602070202" pitchFamily="66" charset="0"/>
                <a:cs typeface="Times New Roman" panose="02020603050405020304" pitchFamily="18" charset="0"/>
              </a:rPr>
              <a:t>C 	20:30-21:00</a:t>
            </a:r>
          </a:p>
          <a:p>
            <a:r>
              <a:rPr lang="hu-HU" sz="6000" dirty="0" err="1">
                <a:ln>
                  <a:solidFill>
                    <a:sysClr val="windowText" lastClr="000000"/>
                  </a:solidFill>
                </a:ln>
                <a:gradFill flip="none" rotWithShape="1">
                  <a:gsLst>
                    <a:gs pos="12000">
                      <a:srgbClr val="5745C3"/>
                    </a:gs>
                    <a:gs pos="81000">
                      <a:srgbClr val="7030A0"/>
                    </a:gs>
                    <a:gs pos="45000">
                      <a:srgbClr val="FF66FF"/>
                    </a:gs>
                  </a:gsLst>
                  <a:lin ang="5400000" scaled="1"/>
                  <a:tileRect/>
                </a:gradFill>
                <a:effectLst>
                  <a:glow rad="127000">
                    <a:srgbClr val="893BC3">
                      <a:alpha val="60000"/>
                    </a:srgbClr>
                  </a:glow>
                </a:effectLst>
                <a:latin typeface="Matura MT Script Capitals" panose="03020802060602070202" pitchFamily="66" charset="0"/>
                <a:cs typeface="Times New Roman" panose="02020603050405020304" pitchFamily="18" charset="0"/>
              </a:rPr>
              <a:t>After</a:t>
            </a:r>
            <a:r>
              <a:rPr lang="hu-HU" sz="6000" dirty="0">
                <a:ln>
                  <a:solidFill>
                    <a:sysClr val="windowText" lastClr="000000"/>
                  </a:solidFill>
                </a:ln>
                <a:gradFill flip="none" rotWithShape="1">
                  <a:gsLst>
                    <a:gs pos="12000">
                      <a:srgbClr val="5745C3"/>
                    </a:gs>
                    <a:gs pos="81000">
                      <a:srgbClr val="7030A0"/>
                    </a:gs>
                    <a:gs pos="45000">
                      <a:srgbClr val="FF66FF"/>
                    </a:gs>
                  </a:gsLst>
                  <a:lin ang="5400000" scaled="1"/>
                  <a:tileRect/>
                </a:gradFill>
                <a:effectLst>
                  <a:glow rad="127000">
                    <a:srgbClr val="893BC3">
                      <a:alpha val="60000"/>
                    </a:srgbClr>
                  </a:glow>
                </a:effectLst>
                <a:latin typeface="Matura MT Script Capitals" panose="03020802060602070202" pitchFamily="66" charset="0"/>
                <a:cs typeface="Times New Roman" panose="02020603050405020304" pitchFamily="18" charset="0"/>
              </a:rPr>
              <a:t> </a:t>
            </a:r>
            <a:r>
              <a:rPr lang="hu-HU" sz="6000" dirty="0" err="1">
                <a:ln>
                  <a:solidFill>
                    <a:sysClr val="windowText" lastClr="000000"/>
                  </a:solidFill>
                </a:ln>
                <a:gradFill flip="none" rotWithShape="1">
                  <a:gsLst>
                    <a:gs pos="12000">
                      <a:srgbClr val="5745C3"/>
                    </a:gs>
                    <a:gs pos="81000">
                      <a:srgbClr val="7030A0"/>
                    </a:gs>
                    <a:gs pos="45000">
                      <a:srgbClr val="FF66FF"/>
                    </a:gs>
                  </a:gsLst>
                  <a:lin ang="5400000" scaled="1"/>
                  <a:tileRect/>
                </a:gradFill>
                <a:effectLst>
                  <a:glow rad="127000">
                    <a:srgbClr val="893BC3">
                      <a:alpha val="60000"/>
                    </a:srgbClr>
                  </a:glow>
                </a:effectLst>
                <a:latin typeface="Matura MT Script Capitals" panose="03020802060602070202" pitchFamily="66" charset="0"/>
                <a:cs typeface="Times New Roman" panose="02020603050405020304" pitchFamily="18" charset="0"/>
              </a:rPr>
              <a:t>party</a:t>
            </a:r>
            <a:r>
              <a:rPr lang="hu-HU" sz="6000" dirty="0">
                <a:ln>
                  <a:solidFill>
                    <a:sysClr val="windowText" lastClr="000000"/>
                  </a:solidFill>
                </a:ln>
                <a:gradFill flip="none" rotWithShape="1">
                  <a:gsLst>
                    <a:gs pos="12000">
                      <a:srgbClr val="5745C3"/>
                    </a:gs>
                    <a:gs pos="81000">
                      <a:srgbClr val="7030A0"/>
                    </a:gs>
                    <a:gs pos="45000">
                      <a:srgbClr val="FF66FF"/>
                    </a:gs>
                  </a:gsLst>
                  <a:lin ang="5400000" scaled="1"/>
                  <a:tileRect/>
                </a:gradFill>
                <a:effectLst>
                  <a:glow rad="127000">
                    <a:srgbClr val="893BC3">
                      <a:alpha val="60000"/>
                    </a:srgbClr>
                  </a:glow>
                </a:effectLst>
                <a:latin typeface="Matura MT Script Capitals" panose="03020802060602070202" pitchFamily="66" charset="0"/>
                <a:cs typeface="Times New Roman" panose="02020603050405020304" pitchFamily="18" charset="0"/>
              </a:rPr>
              <a:t>		21:00-00:00</a:t>
            </a:r>
          </a:p>
        </p:txBody>
      </p:sp>
      <p:pic>
        <p:nvPicPr>
          <p:cNvPr id="4" name="Picture 10" descr="Issues (Korn album) - Wikipedia">
            <a:extLst>
              <a:ext uri="{FF2B5EF4-FFF2-40B4-BE49-F238E27FC236}">
                <a16:creationId xmlns:a16="http://schemas.microsoft.com/office/drawing/2014/main" id="{1A776314-8554-40A5-A69C-2FBD0E7B1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51348">
            <a:off x="-663350" y="7575212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From Enslavement to Obliteration | Napalm Death">
            <a:extLst>
              <a:ext uri="{FF2B5EF4-FFF2-40B4-BE49-F238E27FC236}">
                <a16:creationId xmlns:a16="http://schemas.microsoft.com/office/drawing/2014/main" id="{BA57EFD0-7198-42A9-AD32-2AB146EC6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15" y="7575212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Terrorizer: Terrorizer: World Downfall DIGI CD">
            <a:extLst>
              <a:ext uri="{FF2B5EF4-FFF2-40B4-BE49-F238E27FC236}">
                <a16:creationId xmlns:a16="http://schemas.microsoft.com/office/drawing/2014/main" id="{7FB2149A-28A0-453F-BACA-C1638D21A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60794">
            <a:off x="452511" y="7364667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Discography - nine inch nails">
            <a:extLst>
              <a:ext uri="{FF2B5EF4-FFF2-40B4-BE49-F238E27FC236}">
                <a16:creationId xmlns:a16="http://schemas.microsoft.com/office/drawing/2014/main" id="{D73A7363-328E-4451-A21E-4FFDD1ACA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6946">
            <a:off x="1281806" y="7388500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3903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ADABF615-1B52-46F9-A0DA-D6D63248E126}"/>
              </a:ext>
            </a:extLst>
          </p:cNvPr>
          <p:cNvSpPr txBox="1">
            <a:spLocks/>
          </p:cNvSpPr>
          <p:nvPr/>
        </p:nvSpPr>
        <p:spPr>
          <a:xfrm>
            <a:off x="2152650" y="291011"/>
            <a:ext cx="7886700" cy="3090334"/>
          </a:xfrm>
          <a:prstGeom prst="rect">
            <a:avLst/>
          </a:prstGeom>
          <a:noFill/>
          <a:ln>
            <a:noFill/>
          </a:ln>
          <a:effectLst>
            <a:reflection stA="0" endPos="65000" dir="5400000" sy="-100000" algn="bl" rotWithShape="0"/>
          </a:effectLst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11200" dirty="0">
                <a:ln w="3175">
                  <a:solidFill>
                    <a:schemeClr val="bg1"/>
                  </a:solidFill>
                </a:ln>
                <a:gradFill flip="none" rotWithShape="1">
                  <a:gsLst>
                    <a:gs pos="36000">
                      <a:schemeClr val="accent1">
                        <a:lumMod val="60000"/>
                        <a:lumOff val="40000"/>
                      </a:schemeClr>
                    </a:gs>
                    <a:gs pos="0">
                      <a:schemeClr val="accent1"/>
                    </a:gs>
                    <a:gs pos="100000">
                      <a:schemeClr val="bg1"/>
                    </a:gs>
                    <a:gs pos="66000">
                      <a:schemeClr val="tx2">
                        <a:lumMod val="40000"/>
                        <a:lumOff val="6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63500" dist="25400" dir="5400000" sx="101000" sy="101000" algn="t" rotWithShape="0">
                    <a:schemeClr val="bg1">
                      <a:alpha val="85000"/>
                    </a:schemeClr>
                  </a:outerShdw>
                  <a:reflection blurRad="25400" stA="0" dist="76200" dir="5400000" sy="-100000" algn="bl" rotWithShape="0"/>
                </a:effectLst>
                <a:latin typeface="Old English Text MT" panose="03040902040508030806" pitchFamily="66" charset="0"/>
              </a:rPr>
              <a:t>Köszönjük a figyelmet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60526150-F8FF-404C-AFA2-6CF2E2AEADEA}"/>
              </a:ext>
            </a:extLst>
          </p:cNvPr>
          <p:cNvSpPr txBox="1"/>
          <p:nvPr/>
        </p:nvSpPr>
        <p:spPr>
          <a:xfrm>
            <a:off x="3632200" y="6166879"/>
            <a:ext cx="4813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>
                <a:ln w="3175">
                  <a:solidFill>
                    <a:schemeClr val="bg1"/>
                  </a:solidFill>
                </a:ln>
                <a:gradFill flip="none" rotWithShape="1">
                  <a:gsLst>
                    <a:gs pos="36000">
                      <a:schemeClr val="accent1">
                        <a:lumMod val="60000"/>
                        <a:lumOff val="40000"/>
                      </a:schemeClr>
                    </a:gs>
                    <a:gs pos="0">
                      <a:schemeClr val="accent1"/>
                    </a:gs>
                    <a:gs pos="100000">
                      <a:schemeClr val="bg1"/>
                    </a:gs>
                    <a:gs pos="66000">
                      <a:schemeClr val="tx2">
                        <a:lumMod val="40000"/>
                        <a:lumOff val="6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63500" dist="25400" dir="5400000" sx="101000" sy="101000" algn="t" rotWithShape="0">
                    <a:schemeClr val="bg1">
                      <a:alpha val="85000"/>
                    </a:schemeClr>
                  </a:outerShdw>
                  <a:reflection blurRad="25400" stA="0" dist="76200" dir="5400000" sy="-100000" algn="bl" rotWithShape="0"/>
                </a:effectLst>
                <a:latin typeface="Old English Text MT" panose="03040902040508030806" pitchFamily="66" charset="0"/>
                <a:ea typeface="+mj-ea"/>
                <a:cs typeface="+mj-cs"/>
              </a:rPr>
              <a:t>Készítette: Varju Benedek, Horváth Zsombor</a:t>
            </a:r>
          </a:p>
        </p:txBody>
      </p:sp>
    </p:spTree>
    <p:extLst>
      <p:ext uri="{BB962C8B-B14F-4D97-AF65-F5344CB8AC3E}">
        <p14:creationId xmlns:p14="http://schemas.microsoft.com/office/powerpoint/2010/main" val="23972118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192</Words>
  <Application>Microsoft Office PowerPoint</Application>
  <PresentationFormat>Szélesvásznú</PresentationFormat>
  <Paragraphs>55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9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9" baseType="lpstr">
      <vt:lpstr>Arial</vt:lpstr>
      <vt:lpstr>Calibri</vt:lpstr>
      <vt:lpstr>Calibri Light</vt:lpstr>
      <vt:lpstr>Chiller</vt:lpstr>
      <vt:lpstr>Impact</vt:lpstr>
      <vt:lpstr>Informal Roman</vt:lpstr>
      <vt:lpstr>Matura MT Script Capitals</vt:lpstr>
      <vt:lpstr>Old English Text MT</vt:lpstr>
      <vt:lpstr>Times New Roman</vt:lpstr>
      <vt:lpstr>Office-téma</vt:lpstr>
      <vt:lpstr>Újévi koncert</vt:lpstr>
      <vt:lpstr>PowerPoint-bemutató</vt:lpstr>
      <vt:lpstr>Helyszín beszerzés</vt:lpstr>
      <vt:lpstr>Cégek felkeresése</vt:lpstr>
      <vt:lpstr>Zenekarok</vt:lpstr>
      <vt:lpstr>Zenekarok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Újévi koncert</dc:title>
  <dc:creator>Horváth Zsombor</dc:creator>
  <cp:lastModifiedBy>Horváth Zsombor</cp:lastModifiedBy>
  <cp:revision>28</cp:revision>
  <dcterms:created xsi:type="dcterms:W3CDTF">2026-04-17T11:06:27Z</dcterms:created>
  <dcterms:modified xsi:type="dcterms:W3CDTF">2026-05-22T11:28:01Z</dcterms:modified>
</cp:coreProperties>
</file>